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itter SemiBold"/>
      <p:regular r:id="rId201314"/>
    </p:embeddedFont>
    <p:embeddedFont>
      <p:font typeface="Bitter Thin"/>
      <p:regular r:id="rId201315"/>
    </p:embeddedFont>
    <p:embeddedFont>
      <p:font typeface="Bitter ExtraLight"/>
      <p:regular r:id="rId201316"/>
    </p:embeddedFont>
    <p:embeddedFont>
      <p:font typeface="Bitter Light"/>
      <p:regular r:id="rId201317"/>
    </p:embeddedFont>
    <p:embeddedFont>
      <p:font typeface="Bitter"/>
      <p:regular r:id="rId201318"/>
    </p:embeddedFont>
    <p:embeddedFont>
      <p:font typeface="Bitter Medium"/>
      <p:regular r:id="rId201319"/>
    </p:embeddedFont>
    <p:embeddedFont>
      <p:font typeface="Bitter Bold"/>
      <p:regular r:id="rId201320"/>
    </p:embeddedFont>
    <p:embeddedFont>
      <p:font typeface="Bitter ExtraBold"/>
      <p:regular r:id="rId201321"/>
    </p:embeddedFont>
    <p:embeddedFont>
      <p:font typeface="Bitter Black"/>
      <p:regular r:id="rId201322"/>
    </p:embeddedFont>
    <p:embeddedFont>
      <p:font typeface="Open Sans Light"/>
      <p:regular r:id="rId201323"/>
    </p:embeddedFont>
    <p:embeddedFont>
      <p:font typeface="Open Sans Bold"/>
      <p:regular r:id="rId201324"/>
    </p:embeddedFont>
    <p:embeddedFont>
      <p:font typeface="Open Sans"/>
      <p:regular r:id="rId201325"/>
    </p:embeddedFont>
    <p:embeddedFont>
      <p:font typeface="Open Sans Medium"/>
      <p:regular r:id="rId201326"/>
    </p:embeddedFont>
    <p:embeddedFont>
      <p:font typeface="Open Sans SemiBold"/>
      <p:regular r:id="rId201327"/>
    </p:embeddedFont>
    <p:embeddedFont>
      <p:font typeface="Open Sans ExtraBold"/>
      <p:regular r:id="rId2013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interactive data analytics project using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SQL, Python, and Power BI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uncover customer purchasing patterns and business performance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7963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435224"/>
            <a:ext cx="2290465" cy="1960438"/>
          </a:xfrm>
          <a:prstGeom prst="roundRect">
            <a:avLst>
              <a:gd name="adj" fmla="val 3037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5817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3,900 Rows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1888257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columns covering demographics, purchases, and shopping behavior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435224"/>
            <a:ext cx="2290539" cy="1960438"/>
          </a:xfrm>
          <a:prstGeom prst="roundRect">
            <a:avLst>
              <a:gd name="adj" fmla="val 3037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5817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1888257"/>
            <a:ext cx="1997497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Age, Gender, Location, Category, Purchase Amount, Season, Review Rating, Subscription Status, Shipping Type, Discount &amp; Promo Code usage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537421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68394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37 Missing Values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990454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in the Review Rating column — imputed during cleaning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649"/>
            <a:ext cx="5904905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Exploratory Data Analysis in Python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96603"/>
            <a:ext cx="5187032" cy="293928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5668" y="1138275"/>
            <a:ext cx="196007" cy="1960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31384" y="113421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Load &amp; Explore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431384" y="1458813"/>
            <a:ext cx="2221185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loaded via 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; 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used for initial exploration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55668" y="2306352"/>
            <a:ext cx="196007" cy="1960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31384" y="2302297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Clean &amp; Standardize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6431384" y="2626891"/>
            <a:ext cx="222118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Renamed columns to snake_case; imputed missing review ratings; dropped redundant 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55668" y="3675273"/>
            <a:ext cx="196007" cy="1960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31384" y="3671218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6431384" y="3995812"/>
            <a:ext cx="2221185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age group bins; connected cleaned dataframe to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PostgreSQL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SQL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total revenue — more than double 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$75,191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 female customers.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3432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FCE2C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673251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616398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gap suggests an opportunity to better understand and engage female shoppers.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202"/>
            <a:ext cx="654866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High Spenders &amp; Top-Rated Products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5549"/>
            <a:ext cx="30135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High-Spending Discount Users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65876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 who used discounts but still spent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above the average purchase amount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Top spenders include IDs 9 ($97), 35 ($91), and 4 ($90).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295549"/>
            <a:ext cx="24718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Top 5 Products by Rating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1676474"/>
            <a:ext cx="3902943" cy="28093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957"/>
            <a:ext cx="5940996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Shipping Type &amp; Subscription Revenue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38299"/>
            <a:ext cx="266060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Avg Purchase by Shipping Type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96119" y="1333277"/>
            <a:ext cx="392727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shipping averaged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$58.46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transaction. Express and other types were also analyzed for comparison.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725367" y="1038299"/>
            <a:ext cx="269639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Revenue by Subscription Status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5367" y="1346374"/>
            <a:ext cx="3927277" cy="28268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25367" y="4290938"/>
            <a:ext cx="392727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Non-subscribers drive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73%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customers and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$170K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revenue, but subscribers show strong engagement with 1,053 customers.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76197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Discount Rates by Product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55366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Discount Strategy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Hats receive the highest discount rate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50%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while Pants are discounted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47%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Outerwear and footwear items consistently see discounts near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49%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680246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FCE2C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900065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843213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discount rates on popular items may erode margins — a key area for policy review.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26269"/>
            <a:ext cx="450718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352699"/>
            <a:ext cx="22727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3,116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746447" y="19976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Loyal Customers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304157"/>
            <a:ext cx="22727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dominant segment — frequent repeat buyers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46053" y="1352699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701</a:t>
            </a:r>
            <a:endParaRPr lang="en-US" sz="3650" dirty="0"/>
          </a:p>
        </p:txBody>
      </p:sp>
      <p:sp>
        <p:nvSpPr>
          <p:cNvPr id="8" name="Text 5"/>
          <p:cNvSpPr/>
          <p:nvPr/>
        </p:nvSpPr>
        <p:spPr>
          <a:xfrm>
            <a:off x="3196456" y="19976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946053" y="2304157"/>
            <a:ext cx="22728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Occasional shoppers with purchase history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721048" y="3112145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83</a:t>
            </a:r>
            <a:endParaRPr lang="en-US" sz="3650" dirty="0"/>
          </a:p>
        </p:txBody>
      </p:sp>
      <p:sp>
        <p:nvSpPr>
          <p:cNvPr id="11" name="Text 8"/>
          <p:cNvSpPr/>
          <p:nvPr/>
        </p:nvSpPr>
        <p:spPr>
          <a:xfrm>
            <a:off x="1971452" y="37570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New Customers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721048" y="4063603"/>
            <a:ext cx="22728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First-time buyers — growth opportunity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2954"/>
            <a:ext cx="4876130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Power BI Dashboard Overview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46448"/>
            <a:ext cx="5190753" cy="3013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9708" y="1208559"/>
            <a:ext cx="206290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Dashboard Highlights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999708" y="1532334"/>
            <a:ext cx="2652861" cy="781645"/>
          </a:xfrm>
          <a:prstGeom prst="roundRect">
            <a:avLst>
              <a:gd name="adj" fmla="val 6784"/>
            </a:avLst>
          </a:prstGeom>
          <a:solidFill>
            <a:srgbClr val="FFF8F0"/>
          </a:solidFill>
          <a:ln w="14288">
            <a:solidFill>
              <a:srgbClr val="E2C8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40202" y="1672828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3.9K Customers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40202" y="1982539"/>
            <a:ext cx="237187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purchase: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$59.76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Avg rating: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3.75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999708" y="2426419"/>
            <a:ext cx="2652861" cy="972592"/>
          </a:xfrm>
          <a:prstGeom prst="roundRect">
            <a:avLst>
              <a:gd name="adj" fmla="val 5452"/>
            </a:avLst>
          </a:prstGeom>
          <a:solidFill>
            <a:srgbClr val="FFF8F0"/>
          </a:solidFill>
          <a:ln w="14288">
            <a:solidFill>
              <a:srgbClr val="E2C8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40202" y="2566913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Revenue by Category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40202" y="2876624"/>
            <a:ext cx="237187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Clothing leads at ~$200K; Accessories $100K; Footwear $50K; Outerwear $25K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99708" y="3511451"/>
            <a:ext cx="2652861" cy="972592"/>
          </a:xfrm>
          <a:prstGeom prst="roundRect">
            <a:avLst>
              <a:gd name="adj" fmla="val 5452"/>
            </a:avLst>
          </a:prstGeom>
          <a:solidFill>
            <a:srgbClr val="FFF8F0"/>
          </a:solidFill>
          <a:ln w="14288">
            <a:solidFill>
              <a:srgbClr val="E2C8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40202" y="3651945"/>
            <a:ext cx="1651099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Revenue by Age Group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40202" y="3961656"/>
            <a:ext cx="237187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Aged &amp; Middle-aged each ~$80K; Adult ~$60K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26777"/>
            <a:ext cx="4999732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Business Recommendations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96119" y="1155427"/>
            <a:ext cx="2294855" cy="1772320"/>
          </a:xfrm>
          <a:prstGeom prst="roundRect">
            <a:avLst>
              <a:gd name="adj" fmla="val 3255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8175" y="1297484"/>
            <a:ext cx="411956" cy="411956"/>
          </a:xfrm>
          <a:prstGeom prst="ellipse">
            <a:avLst/>
          </a:prstGeom>
          <a:solidFill>
            <a:srgbClr val="D2600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433" y="1410742"/>
            <a:ext cx="185365" cy="1853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8175" y="1842418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38175" y="2136725"/>
            <a:ext cx="2010742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Offer exclusive benefits to convert non-subscribers and grow the 27% subscriber base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2923952" y="1155427"/>
            <a:ext cx="2294930" cy="1772320"/>
          </a:xfrm>
          <a:prstGeom prst="roundRect">
            <a:avLst>
              <a:gd name="adj" fmla="val 3255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066008" y="1297484"/>
            <a:ext cx="411956" cy="411956"/>
          </a:xfrm>
          <a:prstGeom prst="ellipse">
            <a:avLst/>
          </a:prstGeom>
          <a:solidFill>
            <a:srgbClr val="D2600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9266" y="1410742"/>
            <a:ext cx="185365" cy="1853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66008" y="1842418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Reward Loyalty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3066008" y="2136725"/>
            <a:ext cx="2010817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Incentivize returning customers to advance into the Loyal segment (currently 3,116)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96119" y="3060725"/>
            <a:ext cx="4722763" cy="1555998"/>
          </a:xfrm>
          <a:prstGeom prst="roundRect">
            <a:avLst>
              <a:gd name="adj" fmla="val 3707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38175" y="3202781"/>
            <a:ext cx="411956" cy="411956"/>
          </a:xfrm>
          <a:prstGeom prst="ellipse">
            <a:avLst/>
          </a:prstGeom>
          <a:solidFill>
            <a:srgbClr val="D2600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1433" y="3316039"/>
            <a:ext cx="185365" cy="1853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8175" y="3747715"/>
            <a:ext cx="178824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Refine Discount Policy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38175" y="4042023"/>
            <a:ext cx="443865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sales boosts with margin control — discount rates reach up to 50% on some items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2026-07-03T16:33:11Z</dcterms:created>
  <dcterms:modified xsi:type="dcterms:W3CDTF">2026-07-03T16:33:11Z</dcterms:modified>
</cp:coreProperties>
</file>